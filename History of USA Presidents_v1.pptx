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traces the U.S. presidency from George Washington's inauguration in 1789 to the present day, organized into four 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Constitutional basics of the presidency. Grover Cleveland and Donald Trump are the two presidents who served non-consecutive terms, which is why 45 individuals account for 47 presidencies.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seven presidents established the office's traditions, from Washington's voluntary two-term limit to the expansion of the nation's territory under Jefferson and Monroe.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Lincoln to Wilson, presidents navigated civil war, Reconstruction, industrialization and America's emergence as a world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modern presidency expanded dramatically in scope under FDR and continued to grow through World War II and the Cold War.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Presidents since the end of the Cold War. Donald Trump, the current president, is the 45th and 47th president, having served non-consecutive terms. Information current as of mid-2026.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Notable records. John F. Kennedy remains the youngest person elected president, at 43; Theodore Roosevelt was younger but succeeded to the office. Records current as of mid-2026.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685800"/>
            <a:ext cx="11320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Presidents of the United States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1783080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A TIMELINE OF AMERICAN LEADERSHIP · 1789 TO TODAY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" y="3931920"/>
            <a:ext cx="11109960" cy="0"/>
          </a:xfrm>
          <a:prstGeom prst="line">
            <a:avLst/>
          </a:prstGeom>
          <a:noFill/>
          <a:ln w="12700">
            <a:solidFill>
              <a:srgbClr val="6EA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28346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1789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29768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" y="3849624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61972" y="28346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1829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061972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JACKSONIAN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16836" y="3849624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4176" y="28346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1861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 WAR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3849624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26380" y="28346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1901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3263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81244" y="3849624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58584" y="28346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1933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DEAL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13448" y="3849624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0788" y="28346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1981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590788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WAR 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45652" y="3849624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22992" y="28346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2025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10222992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77856" y="3849624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pic>
        <p:nvPicPr>
          <p:cNvPr id="26" name="Image 0" descr="Decorative civ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10912"/>
            <a:ext cx="1709928" cy="1847088"/>
          </a:xfrm>
          <a:prstGeom prst="rect">
            <a:avLst/>
          </a:prstGeom>
        </p:spPr>
      </p:pic>
      <p:pic>
        <p:nvPicPr>
          <p:cNvPr id="27" name="Image 1" descr="Decorative civic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5010912"/>
            <a:ext cx="1709928" cy="1847088"/>
          </a:xfrm>
          <a:prstGeom prst="rect">
            <a:avLst/>
          </a:prstGeom>
        </p:spPr>
      </p:pic>
      <p:pic>
        <p:nvPicPr>
          <p:cNvPr id="28" name="Image 2" descr="Decorative civic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5010912"/>
            <a:ext cx="1709928" cy="1847088"/>
          </a:xfrm>
          <a:prstGeom prst="rect">
            <a:avLst/>
          </a:prstGeom>
        </p:spPr>
      </p:pic>
      <p:pic>
        <p:nvPicPr>
          <p:cNvPr id="29" name="Image 3" descr="Decorative civic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5010912"/>
            <a:ext cx="1709928" cy="1847088"/>
          </a:xfrm>
          <a:prstGeom prst="rect">
            <a:avLst/>
          </a:prstGeom>
        </p:spPr>
      </p:pic>
      <p:pic>
        <p:nvPicPr>
          <p:cNvPr id="30" name="Image 4" descr="Decorative civic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5010912"/>
            <a:ext cx="1709928" cy="1847088"/>
          </a:xfrm>
          <a:prstGeom prst="rect">
            <a:avLst/>
          </a:prstGeom>
        </p:spPr>
      </p:pic>
      <p:pic>
        <p:nvPicPr>
          <p:cNvPr id="31" name="Image 5" descr="Decorative civic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010912"/>
            <a:ext cx="1709928" cy="1847088"/>
          </a:xfrm>
          <a:prstGeom prst="rect">
            <a:avLst/>
          </a:prstGeom>
        </p:spPr>
      </p:pic>
      <p:pic>
        <p:nvPicPr>
          <p:cNvPr id="32" name="Image 6" descr="Decorative civic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9024" y="5010912"/>
            <a:ext cx="1709928" cy="1847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E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356616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Office of the President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075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ARTICLE II OF THE U.S. CONSTITUTION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4206240"/>
            <a:ext cx="11064240" cy="0"/>
          </a:xfrm>
          <a:prstGeom prst="line">
            <a:avLst/>
          </a:prstGeom>
          <a:noFill/>
          <a:ln w="12700">
            <a:solidFill>
              <a:srgbClr val="2C45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958" y="3154680"/>
            <a:ext cx="2286000" cy="457200"/>
          </a:xfrm>
          <a:prstGeom prst="rect">
            <a:avLst/>
          </a:prstGeom>
          <a:solidFill>
            <a:srgbClr val="9EC1B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6958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MINIMUM 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49958" y="3611880"/>
            <a:ext cx="0" cy="594360"/>
          </a:xfrm>
          <a:prstGeom prst="line">
            <a:avLst/>
          </a:prstGeom>
          <a:noFill/>
          <a:ln w="9525">
            <a:solidFill>
              <a:srgbClr val="2C45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13382" y="4169664"/>
            <a:ext cx="73152" cy="73152"/>
          </a:xfrm>
          <a:prstGeom prst="ellipse">
            <a:avLst/>
          </a:prstGeom>
          <a:solidFill>
            <a:srgbClr val="2C45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9798" y="42793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15518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Candidates must also be natural-born citizens with 14 years of U.S. residency.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3018" y="4800600"/>
            <a:ext cx="2286000" cy="457200"/>
          </a:xfrm>
          <a:prstGeom prst="rect">
            <a:avLst/>
          </a:prstGeom>
          <a:solidFill>
            <a:srgbClr val="9EC1B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73018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YEARS PER TERM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6018" y="4206240"/>
            <a:ext cx="0" cy="594360"/>
          </a:xfrm>
          <a:prstGeom prst="line">
            <a:avLst/>
          </a:prstGeom>
          <a:noFill/>
          <a:ln w="9525">
            <a:solidFill>
              <a:srgbClr val="2C45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9442" y="4169664"/>
            <a:ext cx="73152" cy="73152"/>
          </a:xfrm>
          <a:prstGeom prst="ellipse">
            <a:avLst/>
          </a:prstGeom>
          <a:solidFill>
            <a:srgbClr val="2C45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35858" y="354787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3481578" y="5394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Each term begins at noon on January 20, Inauguration Day.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39078" y="3154680"/>
            <a:ext cx="2286000" cy="457200"/>
          </a:xfrm>
          <a:prstGeom prst="rect">
            <a:avLst/>
          </a:prstGeom>
          <a:solidFill>
            <a:srgbClr val="9EC1B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39078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TERM LIMIT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82078" y="3611880"/>
            <a:ext cx="0" cy="594360"/>
          </a:xfrm>
          <a:prstGeom prst="line">
            <a:avLst/>
          </a:prstGeom>
          <a:noFill/>
          <a:ln w="9525">
            <a:solidFill>
              <a:srgbClr val="2C45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5502" y="4169664"/>
            <a:ext cx="73152" cy="73152"/>
          </a:xfrm>
          <a:prstGeom prst="ellipse">
            <a:avLst/>
          </a:prstGeom>
          <a:solidFill>
            <a:srgbClr val="2C45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01918" y="42793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6247638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The 22nd Amendment, ratified in 1951, limits presidents to two elected terms.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05138" y="4800600"/>
            <a:ext cx="2286000" cy="457200"/>
          </a:xfrm>
          <a:prstGeom prst="rect">
            <a:avLst/>
          </a:prstGeom>
          <a:solidFill>
            <a:srgbClr val="9EC1B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05138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PRESIDENTS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48138" y="4206240"/>
            <a:ext cx="0" cy="594360"/>
          </a:xfrm>
          <a:prstGeom prst="line">
            <a:avLst/>
          </a:prstGeom>
          <a:noFill/>
          <a:ln w="9525">
            <a:solidFill>
              <a:srgbClr val="2C45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11562" y="4169664"/>
            <a:ext cx="73152" cy="73152"/>
          </a:xfrm>
          <a:prstGeom prst="ellipse">
            <a:avLst/>
          </a:prstGeom>
          <a:solidFill>
            <a:srgbClr val="2C45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7978" y="354787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9013698" y="5394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Individuals across 47 presidencies since 1789; two served non-consecutive terms.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65760"/>
            <a:ext cx="11320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Founding Era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1298448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THE FIRST SEVEN PRESIDENTS · 1789 – 1837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3346704"/>
            <a:ext cx="11109960" cy="0"/>
          </a:xfrm>
          <a:prstGeom prst="line">
            <a:avLst/>
          </a:prstGeom>
          <a:noFill/>
          <a:ln w="12700">
            <a:solidFill>
              <a:srgbClr val="6EA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202082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1789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29768" y="2615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WASHINGTON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" y="3264408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" y="3584448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Commanded the Continental Army; set the two-term precedent</a:t>
            </a:r>
            <a:endParaRPr lang="en-US" sz="1200" dirty="0"/>
          </a:p>
        </p:txBody>
      </p:sp>
      <p:pic>
        <p:nvPicPr>
          <p:cNvPr id="9" name="Image 0" descr="Icon for WASHING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10912"/>
            <a:ext cx="1709928" cy="184708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061972" y="202082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1797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061972" y="2615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ADAMS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6836" y="3264408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061972" y="3584448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First president to live in the White House, from 1800</a:t>
            </a:r>
            <a:endParaRPr lang="en-US" sz="1200" dirty="0"/>
          </a:p>
        </p:txBody>
      </p:sp>
      <p:pic>
        <p:nvPicPr>
          <p:cNvPr id="14" name="Image 1" descr="Icon for JOHN ADA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5010912"/>
            <a:ext cx="1709928" cy="1847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94176" y="202082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1801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3694176" y="2615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JEFFERSON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3RD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49040" y="3264408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694176" y="3584448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Declaration author; made the Louisiana Purchase in 1803</a:t>
            </a:r>
            <a:endParaRPr lang="en-US" sz="1200" dirty="0"/>
          </a:p>
        </p:txBody>
      </p:sp>
      <p:pic>
        <p:nvPicPr>
          <p:cNvPr id="19" name="Image 2" descr="Icon for JEFFERS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5010912"/>
            <a:ext cx="1709928" cy="18470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26380" y="202082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1809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5326380" y="2615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MADISON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381244" y="3264408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326380" y="3584448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“Father of the Constitution”; led the nation in the War of 1812</a:t>
            </a:r>
            <a:endParaRPr lang="en-US" sz="1200" dirty="0"/>
          </a:p>
        </p:txBody>
      </p:sp>
      <p:pic>
        <p:nvPicPr>
          <p:cNvPr id="24" name="Image 3" descr="Icon for MADIS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5010912"/>
            <a:ext cx="1709928" cy="18470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58584" y="202082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1817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6958584" y="2615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MONROE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5TH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013448" y="3264408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958584" y="3584448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Issued the Monroe Doctrine, warning Europe off the Americas</a:t>
            </a:r>
            <a:endParaRPr lang="en-US" sz="1200" dirty="0"/>
          </a:p>
        </p:txBody>
      </p:sp>
      <p:pic>
        <p:nvPicPr>
          <p:cNvPr id="29" name="Image 4" descr="Icon for MONRO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5010912"/>
            <a:ext cx="1709928" cy="184708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590788" y="202082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1825</a:t>
            </a:r>
            <a:endParaRPr lang="en-US" sz="2800" dirty="0"/>
          </a:p>
        </p:txBody>
      </p:sp>
      <p:sp>
        <p:nvSpPr>
          <p:cNvPr id="31" name="Text 24"/>
          <p:cNvSpPr txBox="1"/>
          <p:nvPr/>
        </p:nvSpPr>
        <p:spPr>
          <a:xfrm>
            <a:off x="8590788" y="2615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J. Q. ADAMS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6TH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645652" y="3264408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590788" y="3584448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Son of John Adams; chosen by the House after the 1824 election</a:t>
            </a:r>
            <a:endParaRPr lang="en-US" sz="1200" dirty="0"/>
          </a:p>
        </p:txBody>
      </p:sp>
      <p:pic>
        <p:nvPicPr>
          <p:cNvPr id="34" name="Image 5" descr="Icon for J. Q. ADAM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010912"/>
            <a:ext cx="1709928" cy="184708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222992" y="202082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1829</a:t>
            </a:r>
            <a:endParaRPr lang="en-US" sz="2800" dirty="0"/>
          </a:p>
        </p:txBody>
      </p:sp>
      <p:sp>
        <p:nvSpPr>
          <p:cNvPr id="36" name="Text 28"/>
          <p:cNvSpPr txBox="1"/>
          <p:nvPr/>
        </p:nvSpPr>
        <p:spPr>
          <a:xfrm>
            <a:off x="10222992" y="2615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JACKSON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7TH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10277856" y="3264408"/>
            <a:ext cx="164592" cy="164592"/>
          </a:xfrm>
          <a:prstGeom prst="ellipse">
            <a:avLst/>
          </a:prstGeom>
          <a:solidFill>
            <a:srgbClr val="9EC1B7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10222992" y="3584448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53E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Populist “common man” leader; signed the Indian Removal Act</a:t>
            </a:r>
            <a:endParaRPr lang="en-US" sz="1200" dirty="0"/>
          </a:p>
        </p:txBody>
      </p:sp>
      <p:pic>
        <p:nvPicPr>
          <p:cNvPr id="39" name="Image 6" descr="Icon for JACKS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9024" y="5010912"/>
            <a:ext cx="1709928" cy="1847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365760"/>
            <a:ext cx="11311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 War to World War I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57784" y="1298448"/>
            <a:ext cx="11311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UNION, RECONSTRUCTION &amp; REFORM · 1861 – 1921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916936"/>
            <a:ext cx="10954512" cy="0"/>
          </a:xfrm>
          <a:prstGeom prst="line">
            <a:avLst/>
          </a:prstGeom>
          <a:noFill/>
          <a:ln w="19050">
            <a:solidFill>
              <a:srgbClr val="AA4C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579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LINCOLN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9224" y="2834640"/>
            <a:ext cx="164592" cy="164592"/>
          </a:xfrm>
          <a:prstGeom prst="ellipse">
            <a:avLst/>
          </a:prstGeom>
          <a:solidFill>
            <a:srgbClr val="AA4C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3246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Preserved the Union in the Civil War; issued the Emancipation Proclamation</a:t>
            </a:r>
            <a:endParaRPr lang="en-US" sz="1000" dirty="0"/>
          </a:p>
        </p:txBody>
      </p:sp>
      <p:pic>
        <p:nvPicPr>
          <p:cNvPr id="8" name="Image 0" descr="Icon for LINCOL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453128"/>
            <a:ext cx="1179576" cy="18470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5029200"/>
            <a:ext cx="502920" cy="731520"/>
          </a:xfrm>
          <a:prstGeom prst="rect">
            <a:avLst/>
          </a:prstGeom>
          <a:solidFill>
            <a:srgbClr val="F0EAE0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212848" y="21579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JOHNSON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95144" y="2834640"/>
            <a:ext cx="164592" cy="164592"/>
          </a:xfrm>
          <a:prstGeom prst="ellipse">
            <a:avLst/>
          </a:prstGeom>
          <a:solidFill>
            <a:srgbClr val="AA4C4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212848" y="3246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First president impeached; acquitted by a single Senate vote in 1868</a:t>
            </a:r>
            <a:endParaRPr lang="en-US" sz="1000" dirty="0"/>
          </a:p>
        </p:txBody>
      </p:sp>
      <p:pic>
        <p:nvPicPr>
          <p:cNvPr id="13" name="Image 1" descr="Icon for A. JOHN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5020056"/>
            <a:ext cx="1179576" cy="18470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011680" y="5596128"/>
            <a:ext cx="502920" cy="731520"/>
          </a:xfrm>
          <a:prstGeom prst="rect">
            <a:avLst/>
          </a:prstGeom>
          <a:solidFill>
            <a:srgbClr val="F0EAE0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3849624" y="21579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18TH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931920" y="2834640"/>
            <a:ext cx="164592" cy="164592"/>
          </a:xfrm>
          <a:prstGeom prst="ellipse">
            <a:avLst/>
          </a:prstGeom>
          <a:solidFill>
            <a:srgbClr val="AA4C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849624" y="3246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Union general who enforced Reconstruction; 15th Amendment ratified 1870</a:t>
            </a:r>
            <a:endParaRPr lang="en-US" sz="1000" dirty="0"/>
          </a:p>
        </p:txBody>
      </p:sp>
      <p:pic>
        <p:nvPicPr>
          <p:cNvPr id="18" name="Image 2" descr="Icon for GRA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4453128"/>
            <a:ext cx="1179576" cy="18470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48456" y="5029200"/>
            <a:ext cx="502920" cy="731520"/>
          </a:xfrm>
          <a:prstGeom prst="rect">
            <a:avLst/>
          </a:prstGeom>
          <a:solidFill>
            <a:srgbClr val="F0EAE0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5495544" y="21579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CLEVELAND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22ND &amp; 24TH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577840" y="2834640"/>
            <a:ext cx="164592" cy="164592"/>
          </a:xfrm>
          <a:prstGeom prst="ellipse">
            <a:avLst/>
          </a:prstGeom>
          <a:solidFill>
            <a:srgbClr val="AA4C4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495544" y="3246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First president to serve two non-consecutive terms</a:t>
            </a:r>
            <a:endParaRPr lang="en-US" sz="1000" dirty="0"/>
          </a:p>
        </p:txBody>
      </p:sp>
      <p:pic>
        <p:nvPicPr>
          <p:cNvPr id="23" name="Image 3" descr="Icon for CLEVELA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5020056"/>
            <a:ext cx="1179576" cy="18470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94376" y="5596128"/>
            <a:ext cx="502920" cy="731520"/>
          </a:xfrm>
          <a:prstGeom prst="rect">
            <a:avLst/>
          </a:prstGeom>
          <a:solidFill>
            <a:srgbClr val="F0EAE0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26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0" y="21579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MCKINLEY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25TH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14616" y="2834640"/>
            <a:ext cx="164592" cy="164592"/>
          </a:xfrm>
          <a:prstGeom prst="ellipse">
            <a:avLst/>
          </a:prstGeom>
          <a:solidFill>
            <a:srgbClr val="AA4C4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132320" y="3246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Led the U.S. through the Spanish–American War of 1898</a:t>
            </a:r>
            <a:endParaRPr lang="en-US" sz="1000" dirty="0"/>
          </a:p>
        </p:txBody>
      </p:sp>
      <p:pic>
        <p:nvPicPr>
          <p:cNvPr id="28" name="Image 4" descr="Icon for MCKINL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4453128"/>
            <a:ext cx="1179576" cy="184708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31152" y="5029200"/>
            <a:ext cx="502920" cy="731520"/>
          </a:xfrm>
          <a:prstGeom prst="rect">
            <a:avLst/>
          </a:prstGeom>
          <a:solidFill>
            <a:srgbClr val="F0EAE0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</a:t>
            </a:r>
            <a:endParaRPr lang="en-US" sz="2600" dirty="0"/>
          </a:p>
        </p:txBody>
      </p:sp>
      <p:sp>
        <p:nvSpPr>
          <p:cNvPr id="30" name="Text 23"/>
          <p:cNvSpPr txBox="1"/>
          <p:nvPr/>
        </p:nvSpPr>
        <p:spPr>
          <a:xfrm>
            <a:off x="8769096" y="21579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T. ROOSEVELT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26TH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851392" y="2834640"/>
            <a:ext cx="164592" cy="164592"/>
          </a:xfrm>
          <a:prstGeom prst="ellipse">
            <a:avLst/>
          </a:prstGeom>
          <a:solidFill>
            <a:srgbClr val="AA4C41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769096" y="3246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Youngest to take office, at 42; championed trust-busting and conservation</a:t>
            </a:r>
            <a:endParaRPr lang="en-US" sz="1000" dirty="0"/>
          </a:p>
        </p:txBody>
      </p:sp>
      <p:pic>
        <p:nvPicPr>
          <p:cNvPr id="33" name="Image 5" descr="Icon for T. ROOSEVE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5020056"/>
            <a:ext cx="1179576" cy="184708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567928" y="5596128"/>
            <a:ext cx="502920" cy="731520"/>
          </a:xfrm>
          <a:prstGeom prst="rect">
            <a:avLst/>
          </a:prstGeom>
          <a:solidFill>
            <a:srgbClr val="F0EAE0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35" name="Text 27"/>
          <p:cNvSpPr txBox="1"/>
          <p:nvPr/>
        </p:nvSpPr>
        <p:spPr>
          <a:xfrm>
            <a:off x="10415016" y="21579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WILSON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spc="200" kern="0" dirty="0">
                <a:solidFill>
                  <a:srgbClr val="2C4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28TH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10497312" y="2834640"/>
            <a:ext cx="164592" cy="164592"/>
          </a:xfrm>
          <a:prstGeom prst="ellipse">
            <a:avLst/>
          </a:prstGeom>
          <a:solidFill>
            <a:srgbClr val="AA4C4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10415016" y="32461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Led the nation through World War I; proposed the League of Nations</a:t>
            </a:r>
            <a:endParaRPr lang="en-US" sz="1000" dirty="0"/>
          </a:p>
        </p:txBody>
      </p:sp>
      <p:pic>
        <p:nvPicPr>
          <p:cNvPr id="38" name="Image 6" descr="Icon for WILS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4744" y="4453128"/>
            <a:ext cx="1179576" cy="184708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213848" y="5029200"/>
            <a:ext cx="502920" cy="731520"/>
          </a:xfrm>
          <a:prstGeom prst="rect">
            <a:avLst/>
          </a:prstGeom>
          <a:solidFill>
            <a:srgbClr val="F0EAE0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6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600" dirty="0">
                <a:solidFill>
                  <a:srgbClr val="AA4C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365760"/>
            <a:ext cx="110733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Presidency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07592"/>
            <a:ext cx="1107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DEPRESSION, WAR &amp; THE COLD WAR · 1933 – 1989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38912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F. D. ROOSEVELT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32ND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2670048"/>
            <a:ext cx="164592" cy="164592"/>
          </a:xfrm>
          <a:prstGeom prst="ellipse">
            <a:avLst/>
          </a:prstGeom>
          <a:solidFill>
            <a:srgbClr val="B39565"/>
          </a:solidFill>
          <a:ln/>
        </p:spPr>
      </p:sp>
      <p:sp>
        <p:nvSpPr>
          <p:cNvPr id="6" name="Shape 4"/>
          <p:cNvSpPr/>
          <p:nvPr/>
        </p:nvSpPr>
        <p:spPr>
          <a:xfrm>
            <a:off x="557784" y="2834640"/>
            <a:ext cx="0" cy="4023360"/>
          </a:xfrm>
          <a:prstGeom prst="line">
            <a:avLst/>
          </a:prstGeom>
          <a:noFill/>
          <a:ln w="15875">
            <a:solidFill>
              <a:srgbClr val="D9C3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New Deal and WWII leader; the only president elected four times</a:t>
            </a:r>
            <a:endParaRPr lang="en-US" sz="1100" dirty="0"/>
          </a:p>
        </p:txBody>
      </p:sp>
      <p:pic>
        <p:nvPicPr>
          <p:cNvPr id="9" name="Image 0" descr="Icon for F. D. ROOSEVE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306824"/>
            <a:ext cx="1463040" cy="2551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039112" y="26426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TRUMAN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33RD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75688" y="3209544"/>
            <a:ext cx="164592" cy="164592"/>
          </a:xfrm>
          <a:prstGeom prst="ellipse">
            <a:avLst/>
          </a:prstGeom>
          <a:solidFill>
            <a:srgbClr val="B39565"/>
          </a:solidFill>
          <a:ln/>
        </p:spPr>
      </p:sp>
      <p:sp>
        <p:nvSpPr>
          <p:cNvPr id="12" name="Shape 9"/>
          <p:cNvSpPr/>
          <p:nvPr/>
        </p:nvSpPr>
        <p:spPr>
          <a:xfrm>
            <a:off x="2157984" y="3374136"/>
            <a:ext cx="0" cy="3483864"/>
          </a:xfrm>
          <a:prstGeom prst="line">
            <a:avLst/>
          </a:prstGeom>
          <a:noFill/>
          <a:ln w="15875">
            <a:solidFill>
              <a:srgbClr val="D9C36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76856" y="30815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1945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276856" y="3557016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Ended WWII; backed the Marshall Plan and NATO</a:t>
            </a:r>
            <a:endParaRPr lang="en-US" sz="1100" dirty="0"/>
          </a:p>
        </p:txBody>
      </p:sp>
      <p:pic>
        <p:nvPicPr>
          <p:cNvPr id="15" name="Image 1" descr="Icon for TRUM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4837176"/>
            <a:ext cx="1463040" cy="20208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30168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EISENHOWER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34TH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66744" y="2670048"/>
            <a:ext cx="164592" cy="164592"/>
          </a:xfrm>
          <a:prstGeom prst="ellipse">
            <a:avLst/>
          </a:prstGeom>
          <a:solidFill>
            <a:srgbClr val="B39565"/>
          </a:solidFill>
          <a:ln/>
        </p:spPr>
      </p:sp>
      <p:sp>
        <p:nvSpPr>
          <p:cNvPr id="18" name="Shape 14"/>
          <p:cNvSpPr/>
          <p:nvPr/>
        </p:nvSpPr>
        <p:spPr>
          <a:xfrm>
            <a:off x="3749040" y="2834640"/>
            <a:ext cx="0" cy="4023360"/>
          </a:xfrm>
          <a:prstGeom prst="line">
            <a:avLst/>
          </a:prstGeom>
          <a:noFill/>
          <a:ln w="15875">
            <a:solidFill>
              <a:srgbClr val="D9C36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867912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1953</a:t>
            </a:r>
            <a:endParaRPr lang="en-US" sz="2800" dirty="0"/>
          </a:p>
        </p:txBody>
      </p:sp>
      <p:sp>
        <p:nvSpPr>
          <p:cNvPr id="20" name="Text 16"/>
          <p:cNvSpPr txBox="1"/>
          <p:nvPr/>
        </p:nvSpPr>
        <p:spPr>
          <a:xfrm>
            <a:off x="3867912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WWII general; launched the Interstate Highway System</a:t>
            </a:r>
            <a:endParaRPr lang="en-US" sz="1100" dirty="0"/>
          </a:p>
        </p:txBody>
      </p:sp>
      <p:pic>
        <p:nvPicPr>
          <p:cNvPr id="21" name="Image 2" descr="Icon for EISENHOW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4306824"/>
            <a:ext cx="1463040" cy="255117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12080" y="26426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KENNEDY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35TH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248656" y="3209544"/>
            <a:ext cx="164592" cy="164592"/>
          </a:xfrm>
          <a:prstGeom prst="ellipse">
            <a:avLst/>
          </a:prstGeom>
          <a:solidFill>
            <a:srgbClr val="B39565"/>
          </a:solidFill>
          <a:ln/>
        </p:spPr>
      </p:sp>
      <p:sp>
        <p:nvSpPr>
          <p:cNvPr id="24" name="Shape 19"/>
          <p:cNvSpPr/>
          <p:nvPr/>
        </p:nvSpPr>
        <p:spPr>
          <a:xfrm>
            <a:off x="5330952" y="3374136"/>
            <a:ext cx="0" cy="3483864"/>
          </a:xfrm>
          <a:prstGeom prst="line">
            <a:avLst/>
          </a:prstGeom>
          <a:noFill/>
          <a:ln w="15875">
            <a:solidFill>
              <a:srgbClr val="D9C36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449824" y="30815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2800" dirty="0"/>
          </a:p>
        </p:txBody>
      </p:sp>
      <p:sp>
        <p:nvSpPr>
          <p:cNvPr id="26" name="Text 21"/>
          <p:cNvSpPr txBox="1"/>
          <p:nvPr/>
        </p:nvSpPr>
        <p:spPr>
          <a:xfrm>
            <a:off x="5449824" y="3557016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Faced the Cuban Missile Crisis; set the goal of a Moon landing</a:t>
            </a:r>
            <a:endParaRPr lang="en-US" sz="1100" dirty="0"/>
          </a:p>
        </p:txBody>
      </p:sp>
      <p:pic>
        <p:nvPicPr>
          <p:cNvPr id="27" name="Image 3" descr="Icon for KENNED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4837176"/>
            <a:ext cx="1463040" cy="202082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775704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L. B. JOHNSON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36TH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812280" y="2670048"/>
            <a:ext cx="164592" cy="164592"/>
          </a:xfrm>
          <a:prstGeom prst="ellipse">
            <a:avLst/>
          </a:prstGeom>
          <a:solidFill>
            <a:srgbClr val="B39565"/>
          </a:solidFill>
          <a:ln/>
        </p:spPr>
      </p:sp>
      <p:sp>
        <p:nvSpPr>
          <p:cNvPr id="30" name="Shape 24"/>
          <p:cNvSpPr/>
          <p:nvPr/>
        </p:nvSpPr>
        <p:spPr>
          <a:xfrm>
            <a:off x="6894576" y="2834640"/>
            <a:ext cx="0" cy="4023360"/>
          </a:xfrm>
          <a:prstGeom prst="line">
            <a:avLst/>
          </a:prstGeom>
          <a:noFill/>
          <a:ln w="15875">
            <a:solidFill>
              <a:srgbClr val="D9C369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013448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</a:t>
            </a:r>
            <a:endParaRPr lang="en-US" sz="2800" dirty="0"/>
          </a:p>
        </p:txBody>
      </p:sp>
      <p:sp>
        <p:nvSpPr>
          <p:cNvPr id="32" name="Text 26"/>
          <p:cNvSpPr txBox="1"/>
          <p:nvPr/>
        </p:nvSpPr>
        <p:spPr>
          <a:xfrm>
            <a:off x="7013448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Signed the Civil Rights and Voting Rights Acts; created Medicare</a:t>
            </a:r>
            <a:endParaRPr lang="en-US" sz="1100" dirty="0"/>
          </a:p>
        </p:txBody>
      </p:sp>
      <p:pic>
        <p:nvPicPr>
          <p:cNvPr id="33" name="Image 4" descr="Icon for L. B. JOHNS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306824"/>
            <a:ext cx="1463040" cy="255117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394192" y="26426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NIXON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37TH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430768" y="3209544"/>
            <a:ext cx="164592" cy="164592"/>
          </a:xfrm>
          <a:prstGeom prst="ellipse">
            <a:avLst/>
          </a:prstGeom>
          <a:solidFill>
            <a:srgbClr val="B39565"/>
          </a:solidFill>
          <a:ln/>
        </p:spPr>
      </p:sp>
      <p:sp>
        <p:nvSpPr>
          <p:cNvPr id="36" name="Shape 29"/>
          <p:cNvSpPr/>
          <p:nvPr/>
        </p:nvSpPr>
        <p:spPr>
          <a:xfrm>
            <a:off x="8513064" y="3374136"/>
            <a:ext cx="0" cy="3483864"/>
          </a:xfrm>
          <a:prstGeom prst="line">
            <a:avLst/>
          </a:prstGeom>
          <a:noFill/>
          <a:ln w="15875">
            <a:solidFill>
              <a:srgbClr val="D9C369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631936" y="30815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1969</a:t>
            </a:r>
            <a:endParaRPr lang="en-US" sz="2800" dirty="0"/>
          </a:p>
        </p:txBody>
      </p:sp>
      <p:sp>
        <p:nvSpPr>
          <p:cNvPr id="38" name="Text 31"/>
          <p:cNvSpPr txBox="1"/>
          <p:nvPr/>
        </p:nvSpPr>
        <p:spPr>
          <a:xfrm>
            <a:off x="8631936" y="3557016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Opened relations with China; the only president to resign</a:t>
            </a:r>
            <a:endParaRPr lang="en-US" sz="1100" dirty="0"/>
          </a:p>
        </p:txBody>
      </p:sp>
      <p:pic>
        <p:nvPicPr>
          <p:cNvPr id="39" name="Image 5" descr="Icon for NIX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837176"/>
            <a:ext cx="1463040" cy="202082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976104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REAGAN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8F7549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40TH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0012680" y="2670048"/>
            <a:ext cx="164592" cy="164592"/>
          </a:xfrm>
          <a:prstGeom prst="ellipse">
            <a:avLst/>
          </a:prstGeom>
          <a:solidFill>
            <a:srgbClr val="B39565"/>
          </a:solidFill>
          <a:ln/>
        </p:spPr>
      </p:sp>
      <p:sp>
        <p:nvSpPr>
          <p:cNvPr id="42" name="Shape 34"/>
          <p:cNvSpPr/>
          <p:nvPr/>
        </p:nvSpPr>
        <p:spPr>
          <a:xfrm>
            <a:off x="10094976" y="2834640"/>
            <a:ext cx="0" cy="4023360"/>
          </a:xfrm>
          <a:prstGeom prst="line">
            <a:avLst/>
          </a:prstGeom>
          <a:noFill/>
          <a:ln w="15875">
            <a:solidFill>
              <a:srgbClr val="D9C369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0213848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1981</a:t>
            </a:r>
            <a:endParaRPr lang="en-US" sz="2800" dirty="0"/>
          </a:p>
        </p:txBody>
      </p:sp>
      <p:sp>
        <p:nvSpPr>
          <p:cNvPr id="44" name="Text 36"/>
          <p:cNvSpPr txBox="1"/>
          <p:nvPr/>
        </p:nvSpPr>
        <p:spPr>
          <a:xfrm>
            <a:off x="10213848" y="30175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Cut taxes, rebuilt the military, signed the 1987 INF Treaty</a:t>
            </a:r>
            <a:endParaRPr lang="en-US" sz="1100" dirty="0"/>
          </a:p>
        </p:txBody>
      </p:sp>
      <p:pic>
        <p:nvPicPr>
          <p:cNvPr id="45" name="Image 6" descr="Icon for REAGA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4306824"/>
            <a:ext cx="1463040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47472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263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263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PRESIDENTS</a:t>
            </a:r>
            <a:endParaRPr lang="en-US" sz="4800" dirty="0"/>
          </a:p>
        </p:txBody>
      </p:sp>
      <p:pic>
        <p:nvPicPr>
          <p:cNvPr id="3" name="Image 0" descr="Icon for GEORGE H. W. BUSH · 41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36976"/>
            <a:ext cx="1700784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" y="605332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1989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" y="2048256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GEORGE H. W. BUSH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41ST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Oversaw the Cold War’s end; led the 1991 Gulf War coalition</a:t>
            </a:r>
            <a:endParaRPr lang="en-US" sz="800" dirty="0"/>
          </a:p>
        </p:txBody>
      </p:sp>
      <p:pic>
        <p:nvPicPr>
          <p:cNvPr id="6" name="Image 1" descr="Icon for BILL CLINTON · 42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715768"/>
            <a:ext cx="1700784" cy="2551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19656" y="2093976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1993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837944" y="5376672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BILL CLINTON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42ND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Signed NAFTA; presided over late-1990s budget surpluses</a:t>
            </a:r>
            <a:endParaRPr lang="en-US" sz="800" dirty="0"/>
          </a:p>
        </p:txBody>
      </p:sp>
      <p:pic>
        <p:nvPicPr>
          <p:cNvPr id="9" name="Image 2" descr="Icon for GEORGE W. BUSH · 43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3813048"/>
            <a:ext cx="1700784" cy="184708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584448" y="573328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2001</a:t>
            </a:r>
            <a:endParaRPr lang="en-US" sz="2800" dirty="0"/>
          </a:p>
        </p:txBody>
      </p:sp>
      <p:sp>
        <p:nvSpPr>
          <p:cNvPr id="11" name="Text 6"/>
          <p:cNvSpPr txBox="1"/>
          <p:nvPr/>
        </p:nvSpPr>
        <p:spPr>
          <a:xfrm>
            <a:off x="3602736" y="2624328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GEORGE W. BUSH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43RD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Led the response to 9/11 and the wars in Afghanistan and Iraq</a:t>
            </a:r>
            <a:endParaRPr lang="en-US" sz="800" dirty="0"/>
          </a:p>
        </p:txBody>
      </p:sp>
      <p:pic>
        <p:nvPicPr>
          <p:cNvPr id="12" name="Image 3" descr="Icon for BARACK OBAMA · 44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203704"/>
            <a:ext cx="1700784" cy="25511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330952" y="158191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2009</a:t>
            </a:r>
            <a:endParaRPr lang="en-US" sz="2800" dirty="0"/>
          </a:p>
        </p:txBody>
      </p:sp>
      <p:sp>
        <p:nvSpPr>
          <p:cNvPr id="14" name="Text 8"/>
          <p:cNvSpPr txBox="1"/>
          <p:nvPr/>
        </p:nvSpPr>
        <p:spPr>
          <a:xfrm>
            <a:off x="5349240" y="4864608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BARACK OBAMA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44TH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First African American president; signed the Affordable Care Act</a:t>
            </a:r>
            <a:endParaRPr lang="en-US" sz="800" dirty="0"/>
          </a:p>
        </p:txBody>
      </p:sp>
      <p:pic>
        <p:nvPicPr>
          <p:cNvPr id="15" name="Image 4" descr="Icon for DONALD TRUMP · 45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3145536"/>
            <a:ext cx="1700784" cy="18379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77456" y="505663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2800" dirty="0"/>
          </a:p>
        </p:txBody>
      </p:sp>
      <p:sp>
        <p:nvSpPr>
          <p:cNvPr id="17" name="Text 10"/>
          <p:cNvSpPr txBox="1"/>
          <p:nvPr/>
        </p:nvSpPr>
        <p:spPr>
          <a:xfrm>
            <a:off x="7095744" y="1956816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DONALD TRUMP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45TH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Signed the 2017 Tax Cuts and Jobs Act; appointed three justices</a:t>
            </a:r>
            <a:endParaRPr lang="en-US" sz="800" dirty="0"/>
          </a:p>
        </p:txBody>
      </p:sp>
      <p:pic>
        <p:nvPicPr>
          <p:cNvPr id="18" name="Image 5" descr="Icon for JOE BIDEN · 46T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08" y="1197864"/>
            <a:ext cx="1700784" cy="295351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823960" y="57607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2800" dirty="0"/>
          </a:p>
        </p:txBody>
      </p:sp>
      <p:sp>
        <p:nvSpPr>
          <p:cNvPr id="20" name="Text 12"/>
          <p:cNvSpPr txBox="1"/>
          <p:nvPr/>
        </p:nvSpPr>
        <p:spPr>
          <a:xfrm>
            <a:off x="8842248" y="4261104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JOE BIDEN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46TH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Signed COVID-19 relief and the 2021 bipartisan infrastructure law</a:t>
            </a:r>
            <a:endParaRPr lang="en-US" sz="800" dirty="0"/>
          </a:p>
        </p:txBody>
      </p:sp>
      <p:pic>
        <p:nvPicPr>
          <p:cNvPr id="21" name="Image 6" descr="Icon for DONALD TRUMP · 47T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6456" y="2788920"/>
            <a:ext cx="1700784" cy="255117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579608" y="54132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2800" dirty="0"/>
          </a:p>
        </p:txBody>
      </p:sp>
      <p:sp>
        <p:nvSpPr>
          <p:cNvPr id="23" name="Text 14"/>
          <p:cNvSpPr txBox="1"/>
          <p:nvPr/>
        </p:nvSpPr>
        <p:spPr>
          <a:xfrm>
            <a:off x="10597896" y="16002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DONALD TRUMP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spc="1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47TH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Returned for a non-consecutive second term, the first since Cleveland</a:t>
            </a:r>
            <a:endParaRPr lang="en-US" sz="800" dirty="0"/>
          </a:p>
        </p:txBody>
      </p:sp>
      <p:sp>
        <p:nvSpPr>
          <p:cNvPr id="24" name="Text 15"/>
          <p:cNvSpPr txBox="1"/>
          <p:nvPr/>
        </p:nvSpPr>
        <p:spPr>
          <a:xfrm>
            <a:off x="7708392" y="6263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spc="3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1989 TO TODAY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496" y="3474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263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RECORDS &amp; FIRSTS</a:t>
            </a:r>
            <a:endParaRPr lang="en-US" sz="4800" dirty="0"/>
          </a:p>
        </p:txBody>
      </p:sp>
      <p:pic>
        <p:nvPicPr>
          <p:cNvPr id="3" name="Image 0" descr="Icon for LONGEST TEN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2560320" cy="2194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3767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63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YRS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LONGEST TENURE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709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Franklin D. Roosevelt served from 1933 until his death in 1945.</a:t>
            </a:r>
            <a:endParaRPr lang="en-US" sz="1100" dirty="0"/>
          </a:p>
        </p:txBody>
      </p:sp>
      <p:pic>
        <p:nvPicPr>
          <p:cNvPr id="7" name="Image 1" descr="Icon for SHORTEST TEN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874520"/>
            <a:ext cx="2560320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401568" y="41788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63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DAYS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3401568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SHORTEST TENURE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3401568" y="5120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William Henry Harrison died a month after his 1841 inauguration.</a:t>
            </a:r>
            <a:endParaRPr lang="en-US" sz="1100" dirty="0"/>
          </a:p>
        </p:txBody>
      </p:sp>
      <p:pic>
        <p:nvPicPr>
          <p:cNvPr id="11" name="Image 2" descr="Icon for YOUNGEST IN OFF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463040"/>
            <a:ext cx="2560320" cy="21945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36208" y="3767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63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600" dirty="0"/>
          </a:p>
        </p:txBody>
      </p:sp>
      <p:sp>
        <p:nvSpPr>
          <p:cNvPr id="13" name="Text 8"/>
          <p:cNvSpPr txBox="1"/>
          <p:nvPr/>
        </p:nvSpPr>
        <p:spPr>
          <a:xfrm>
            <a:off x="6236208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YOUNGEST IN OFFICE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236208" y="4709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Theodore Roosevelt took office after McKinley’s assassination in 1901.</a:t>
            </a:r>
            <a:endParaRPr lang="en-US" sz="1100" dirty="0"/>
          </a:p>
        </p:txBody>
      </p:sp>
      <p:pic>
        <p:nvPicPr>
          <p:cNvPr id="15" name="Image 3" descr="Icon for OLDEST INAUGURAT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1874520"/>
            <a:ext cx="2560320" cy="21945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70848" y="41788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63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3600" dirty="0"/>
          </a:p>
        </p:txBody>
      </p:sp>
      <p:sp>
        <p:nvSpPr>
          <p:cNvPr id="17" name="Text 11"/>
          <p:cNvSpPr txBox="1"/>
          <p:nvPr/>
        </p:nvSpPr>
        <p:spPr>
          <a:xfrm>
            <a:off x="9070848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OLDEST INAUGURATED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070848" y="5120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Donald Trump was 78 when sworn in for his second term in 2025.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0" y="6263640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300" kern="0" dirty="0">
                <a:solidFill>
                  <a:srgbClr val="263CC3"/>
                </a:solidFill>
                <a:latin typeface="Kalinga" pitchFamily="34" charset="0"/>
                <a:ea typeface="Kalinga" pitchFamily="34" charset="-122"/>
                <a:cs typeface="Kalinga" pitchFamily="34" charset="-120"/>
              </a:rPr>
              <a:t>PRESIDENTS OF THE UNITED STATES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aling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Presidents of the United States</dc:title>
  <dc:subject>PptxGenJS Presentation</dc:subject>
  <dc:creator>PptxGenJS</dc:creator>
  <cp:lastModifiedBy>PptxGenJS</cp:lastModifiedBy>
  <cp:revision>1</cp:revision>
  <dcterms:created xsi:type="dcterms:W3CDTF">2026-09-24T21:38:06Z</dcterms:created>
  <dcterms:modified xsi:type="dcterms:W3CDTF">2026-09-24T21:38:06Z</dcterms:modified>
</cp:coreProperties>
</file>